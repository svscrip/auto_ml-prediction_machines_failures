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5223" y="816099"/>
            <a:ext cx="7020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FFFFFF"/>
                </a:solidFill>
                <a:latin typeface="Arial"/>
              </a:rPr>
              <a:t>Прогноз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отказов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
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промышленного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оборудования</a:t>
            </a:r>
            <a:endParaRPr sz="4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5223" y="3581615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dirty="0" err="1">
                <a:solidFill>
                  <a:srgbClr val="FFFFFF"/>
                </a:solidFill>
                <a:latin typeface="Arial"/>
              </a:rPr>
              <a:t>Дисциплина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: «</a:t>
            </a:r>
            <a:r>
              <a:rPr sz="2200" b="0" dirty="0" err="1">
                <a:solidFill>
                  <a:srgbClr val="FFFFFF"/>
                </a:solidFill>
                <a:latin typeface="Arial"/>
              </a:rPr>
              <a:t>Автоматизация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Arial"/>
              </a:rPr>
              <a:t>машинного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Arial"/>
              </a:rPr>
              <a:t>обучения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»</a:t>
            </a:r>
          </a:p>
          <a:p>
            <a:pPr algn="l">
              <a:lnSpc>
                <a:spcPct val="115000"/>
              </a:lnSpc>
            </a:pPr>
            <a:r>
              <a:rPr sz="2200" b="0" dirty="0" err="1">
                <a:solidFill>
                  <a:srgbClr val="FFFFFF"/>
                </a:solidFill>
                <a:latin typeface="Arial"/>
              </a:rPr>
              <a:t>Уральский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Arial"/>
              </a:rPr>
              <a:t>Федеральный</a:t>
            </a:r>
            <a:r>
              <a:rPr sz="22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Arial"/>
              </a:rPr>
              <a:t>Университет</a:t>
            </a:r>
            <a:endParaRPr sz="22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endParaRPr sz="22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 err="1">
                <a:solidFill>
                  <a:srgbClr val="FFFFFF"/>
                </a:solidFill>
                <a:latin typeface="Arial"/>
              </a:rPr>
              <a:t>Докладчик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Скрипин Сергей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Владимирович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 err="1">
                <a:solidFill>
                  <a:srgbClr val="FFFFFF"/>
                </a:solidFill>
                <a:latin typeface="Arial"/>
              </a:rPr>
              <a:t>студент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магистратуры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группа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РИМ-150920к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Состав команды: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512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Буржимский Сергей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ETL, feature engineering, EDA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Яньшин Александр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Обучение модели, MLflow, метрики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Фер Андрей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Инференс, мониторинг, рекомендации по обслуживанию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Скрипин Сергей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Docker, CI/CD, README,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Бизнес-задача: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512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Производственное оборудование генерирует телеметрию: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температура, обороты, момент, износ инструмента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Задача: заранее оценивать вероятность отказа (Machine failure)</a:t>
            </a:r>
          </a:p>
          <a:p>
            <a:pPr algn="l">
              <a:lnSpc>
                <a:spcPct val="120000"/>
              </a:lnSpc>
            </a:pPr>
            <a:endParaRPr sz="2200" b="1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Цели: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·  Сократить внеплановые простои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·  Планировать обслуживание по риску, а не по календарю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·  Выдавать рекомендации по КПД и износу инструмента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Переход от календарного ТО к предиктивному обслуживанию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Данные и ETL: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512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Источник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Kaggle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Playground Series S3E17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Train: ~136 429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записей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 |  Test: ~90 954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записей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Целевая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переменная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Machine failure (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дисбаланс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~1,6%)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Типы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оборудования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L (low), M (medium), H (high)</a:t>
            </a:r>
          </a:p>
          <a:p>
            <a:pPr algn="l">
              <a:lnSpc>
                <a:spcPct val="115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Сырые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признаки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Air/Process temperature [K], Rotational speed [rpm]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Torque [Nm], Tool wear [min], Type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Флаги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отказов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TWF, HDF, PWF, OSF, RNF</a:t>
            </a:r>
          </a:p>
          <a:p>
            <a:pPr algn="l">
              <a:lnSpc>
                <a:spcPct val="115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Инженерные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признаки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(feature engineering):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delta_temperature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[K], Power [kW], efficiency [%]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air_mass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air_heat_power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[kW],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total_failures_cum</a:t>
            </a:r>
            <a:endParaRPr sz="20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Архитектура ML-пайплайна: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227915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Поток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endParaRPr sz="22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  train.csv / test.csv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        ↓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  ETL: load.py → features.py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        ↓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  train.py  →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model.cbm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 +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tracking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        ↓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  predict.py  →  predictions.csv  +  maintenance_recommendations.csv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FFFFFF"/>
                </a:solidFill>
                <a:latin typeface="Arial"/>
              </a:rPr>
              <a:t>DevOps: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Docker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воспроизводимый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запуск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train/predict в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контейнере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GitHub Actions — CI: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pytest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+ Docker smoke train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— tracking URI: artifacts/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mlflow.db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+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mlartifacts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EDA — разведочный анализ данных:</a:t>
            </a:r>
          </a:p>
        </p:txBody>
      </p:sp>
      <p:pic>
        <p:nvPicPr>
          <p:cNvPr id="4" name="Picture 3" descr="failu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080000"/>
            <a:ext cx="3780000" cy="2700000"/>
          </a:xfrm>
          <a:prstGeom prst="rect">
            <a:avLst/>
          </a:prstGeom>
        </p:spPr>
      </p:pic>
      <p:pic>
        <p:nvPicPr>
          <p:cNvPr id="5" name="Picture 4" descr="efficiency_vs_wear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000" y="1080000"/>
            <a:ext cx="3780000" cy="2700000"/>
          </a:xfrm>
          <a:prstGeom prst="rect">
            <a:avLst/>
          </a:prstGeom>
        </p:spPr>
      </p:pic>
      <p:pic>
        <p:nvPicPr>
          <p:cNvPr id="6" name="Picture 5" descr="trend_efficiency_vs_w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000" y="1080000"/>
            <a:ext cx="3780000" cy="27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888000"/>
            <a:ext cx="37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C3E6"/>
                </a:solidFill>
                <a:latin typeface="Arial"/>
              </a:rPr>
              <a:t>Распределение отказов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00" y="3888000"/>
            <a:ext cx="37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C3E6"/>
                </a:solidFill>
                <a:latin typeface="Arial"/>
              </a:rPr>
              <a:t>КПД vs износ инструмента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888000"/>
            <a:ext cx="37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C3E6"/>
                </a:solidFill>
                <a:latin typeface="Arial"/>
              </a:rPr>
              <a:t>Тренд КПД по износу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4241080"/>
            <a:ext cx="1152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FFFFFF"/>
                </a:solidFill>
                <a:latin typeface="Arial"/>
              </a:rPr>
              <a:t>Ключевые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выводы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EDA: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Средний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КПД: 55,82%  |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Средний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износ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: 104,4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мин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 |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Всего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отказов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: 4 239 (~1,8%)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Сильная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отрицательная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корреляция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КПД и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износа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инструмента</a:t>
            </a:r>
            <a:endParaRPr sz="16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Отказы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чаще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износе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~1,2×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выше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среднего</a:t>
            </a:r>
            <a:endParaRPr sz="16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Рекомендации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оповещение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КПД &lt; 80%,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замена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инструмента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~200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мин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ML-модель: CatBoostClassifier: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121382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Алгоритм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CatBoostClassifier</a:t>
            </a:r>
            <a:endParaRPr sz="22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Градиентный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бустинг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с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нативной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поддержкой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категориальных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признаков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Нативная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работа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с Type,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флагами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отказов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(TWF, HDF, PWF, OSF)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Ключевые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параметры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auto_class_weights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= Balanced 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борьба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с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дисбалансом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классов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(~1,6%)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Early stopping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AUC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validation set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Валидация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stratified hold-out 80/20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Конфигурация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: src/config.py (CATBOOST_PARAMS</a:t>
            </a:r>
            <a:r>
              <a:rPr sz="2000" b="1" dirty="0" smtClean="0">
                <a:solidFill>
                  <a:srgbClr val="FFFFFF"/>
                </a:solidFill>
                <a:latin typeface="Arial"/>
              </a:rPr>
              <a:t>)</a:t>
            </a:r>
            <a:endParaRPr sz="20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Важность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признаков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(Top-5):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Torque [Nm]: 11,37  |  Air temperature [K]: 10,75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Rotational speed [rpm]: 10,68  |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air_mass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9,97  |  Tool wear [min]: 9,87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18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Метрики модели: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07999"/>
            <a:ext cx="3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Текущие метрики пайплайна: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(smoke 5 000 строк, stratified 80/20)</a:t>
            </a:r>
          </a:p>
          <a:p>
            <a:pPr algn="l">
              <a:lnSpc>
                <a:spcPct val="115000"/>
              </a:lnSpc>
            </a:pPr>
            <a:endParaRPr sz="16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ROC-AUC:   0,934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Recall:       0,786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Precision:  0,393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F1:             0,524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Accuracy:  0,980</a:t>
            </a:r>
          </a:p>
          <a:p>
            <a:pPr algn="l">
              <a:lnSpc>
                <a:spcPct val="115000"/>
              </a:lnSpc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Время обучения: ~5,3 с</a:t>
            </a:r>
          </a:p>
          <a:p>
            <a:pPr algn="l">
              <a:lnSpc>
                <a:spcPct val="115000"/>
              </a:lnSpc>
            </a:pPr>
            <a:endParaRPr sz="1800" b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Низкий Precision типичен для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несбалансированного класса: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модель агрессивнее ловит отказы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(высокий Recall)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0" y="900000"/>
            <a:ext cx="3780000" cy="2340000"/>
          </a:xfrm>
          <a:prstGeom prst="rect">
            <a:avLst/>
          </a:prstGeom>
        </p:spPr>
      </p:pic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0" y="900000"/>
            <a:ext cx="3780000" cy="2340000"/>
          </a:xfrm>
          <a:prstGeom prst="rect">
            <a:avLst/>
          </a:prstGeom>
        </p:spPr>
      </p:pic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000" y="3420000"/>
            <a:ext cx="774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Мониторинг модели и инфраструктуры:</a:t>
            </a:r>
          </a:p>
        </p:txBody>
      </p:sp>
      <p:pic>
        <p:nvPicPr>
          <p:cNvPr id="4" name="Picture 3" descr="mode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" y="1007999"/>
            <a:ext cx="5580000" cy="2700000"/>
          </a:xfrm>
          <a:prstGeom prst="rect">
            <a:avLst/>
          </a:prstGeom>
        </p:spPr>
      </p:pic>
      <p:pic>
        <p:nvPicPr>
          <p:cNvPr id="5" name="Picture 4" descr="infrastructure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000" y="1007999"/>
            <a:ext cx="5580000" cy="2700000"/>
          </a:xfrm>
          <a:prstGeom prst="rect">
            <a:avLst/>
          </a:prstGeom>
        </p:spPr>
      </p:pic>
      <p:pic>
        <p:nvPicPr>
          <p:cNvPr id="6" name="Picture 5" descr="infrastructure_infer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0" y="3888000"/>
            <a:ext cx="5580000" cy="2700000"/>
          </a:xfrm>
          <a:prstGeom prst="rect">
            <a:avLst/>
          </a:prstGeom>
        </p:spPr>
      </p:pic>
      <p:pic>
        <p:nvPicPr>
          <p:cNvPr id="7" name="Picture 6" descr="drift_ps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000" y="3888000"/>
            <a:ext cx="5580000" cy="27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000" y="675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dirty="0" err="1">
                <a:solidFill>
                  <a:srgbClr val="9DC3E6"/>
                </a:solidFill>
                <a:latin typeface="Arial"/>
              </a:rPr>
              <a:t>Метрики</a:t>
            </a:r>
            <a:r>
              <a:rPr sz="1500" b="0" dirty="0">
                <a:solidFill>
                  <a:srgbClr val="9DC3E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9DC3E6"/>
                </a:solidFill>
                <a:latin typeface="Arial"/>
              </a:rPr>
              <a:t>модели</a:t>
            </a:r>
            <a:endParaRPr sz="1500" b="0" dirty="0">
              <a:solidFill>
                <a:srgbClr val="9DC3E6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0000" y="66911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dirty="0" err="1">
                <a:solidFill>
                  <a:srgbClr val="9DC3E6"/>
                </a:solidFill>
                <a:latin typeface="Arial"/>
              </a:rPr>
              <a:t>Инфраструктура</a:t>
            </a:r>
            <a:r>
              <a:rPr sz="1500" b="0" dirty="0">
                <a:solidFill>
                  <a:srgbClr val="9DC3E6"/>
                </a:solidFill>
                <a:latin typeface="Arial"/>
              </a:rPr>
              <a:t> (</a:t>
            </a:r>
            <a:r>
              <a:rPr sz="1500" b="0" dirty="0" err="1">
                <a:solidFill>
                  <a:srgbClr val="9DC3E6"/>
                </a:solidFill>
                <a:latin typeface="Arial"/>
              </a:rPr>
              <a:t>обучение</a:t>
            </a:r>
            <a:r>
              <a:rPr sz="1500" b="0" dirty="0">
                <a:solidFill>
                  <a:srgbClr val="9DC3E6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" y="3780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9DC3E6"/>
                </a:solidFill>
                <a:latin typeface="Arial"/>
              </a:rPr>
              <a:t>Инфраструктура (инференс)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0" y="3780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9DC3E6"/>
                </a:solidFill>
                <a:latin typeface="Arial"/>
              </a:rPr>
              <a:t>Data Drift (PSI)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отслеживает мониторинг: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512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обучении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Качество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модели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ROC-AUC, Recall, Precision, F1 →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+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metrics.json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Качество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пропуски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target_rate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распределение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Type →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data_quality.json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Инфраструктура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CPU/RAM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/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после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время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обучения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psutil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)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инференсе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Доля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risk_level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=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прогнозах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PSI (Population Stability Index)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дрейф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признаков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train→test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CPU/RAM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/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после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время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инференса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rows_per_sec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)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Текущий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статус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дрейфа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overall_status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= stable  |  PSI &lt; 0,001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всем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признакам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стабильна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test-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выборке</a:t>
            </a:r>
            <a:endParaRPr sz="20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62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Docker и CI/CD: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050361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dirty="0">
                <a:solidFill>
                  <a:srgbClr val="FFFFFF"/>
                </a:solidFill>
                <a:latin typeface="Arial"/>
              </a:rPr>
              <a:t>Docker: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Базовый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образ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python:3.11-slim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Воспроизводимость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фиксированные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версии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библиотек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Изоляция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независимость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локального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окружения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docker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compose up train  |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docker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compose up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(UI: localhost:5000)</a:t>
            </a:r>
          </a:p>
          <a:p>
            <a:pPr algn="l">
              <a:lnSpc>
                <a:spcPct val="115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>
                <a:solidFill>
                  <a:srgbClr val="FFFFFF"/>
                </a:solidFill>
                <a:latin typeface="Arial"/>
              </a:rPr>
              <a:t>CI/CD (GitHub Actions):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checkout → setup-python 3.11 → pip install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pytest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-q 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автоматические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тесты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docker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build + smoke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src.train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--smoke в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контейнере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Тестирование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(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pytest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test_load.py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схема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train.csv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test_features.py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формулы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Power, efficiency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test_train.py — smoke-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обучение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метрики</a:t>
            </a:r>
            <a:endParaRPr sz="20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Результаты инференса и рекомендации: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121382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Прогнозы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 90 954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единицы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оборудования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(test.csv)</a:t>
            </a:r>
          </a:p>
          <a:p>
            <a:pPr algn="l">
              <a:lnSpc>
                <a:spcPct val="120000"/>
              </a:lnSpc>
            </a:pPr>
            <a:endParaRPr sz="22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Распределение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уровню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риска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Низкий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риск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    45 477  (~50%)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Средний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риск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 36 381  (~40%)</a:t>
            </a:r>
          </a:p>
          <a:p>
            <a:pPr algn="l">
              <a:lnSpc>
                <a:spcPct val="12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риск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:    9 096  (~10%)  ←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приоритетное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обслуживание</a:t>
            </a:r>
            <a:endParaRPr sz="20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endParaRPr sz="2000" b="1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Рекомендации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обслуживанию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Низкая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эффективность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настроить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систему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КПД &lt; 50%  [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приоритет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]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Критический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износ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плановые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замены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износе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&gt; 192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мин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 [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приоритет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]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прогноз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отказа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целевое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обслуживание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risk_level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=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 [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Высокий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приоритет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]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800" b="0" dirty="0" err="1">
                <a:solidFill>
                  <a:srgbClr val="FFFFFF"/>
                </a:solidFill>
                <a:latin typeface="Arial"/>
              </a:rPr>
              <a:t>Время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инференса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: ~0,01 с (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) / ~1,2 с (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полный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pipeline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90 954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строк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000" y="43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Итоги проекта: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201281"/>
            <a:ext cx="10080000" cy="515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Реализован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автоматизированный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ML-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пайплайн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ETL →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CatBoost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Инференс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2000" b="0" dirty="0" err="1" smtClean="0">
                <a:solidFill>
                  <a:srgbClr val="FFFFFF"/>
                </a:solidFill>
                <a:latin typeface="Arial"/>
              </a:rPr>
              <a:t>Мониторинг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Достигнутые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результаты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ROC-AUC = 0,934  |  Recall = 0,786 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эффективно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выявляет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отказы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9 096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единиц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оборудования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(~10%) с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высоким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риском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приоритетное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ТО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Дрейф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выявлен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(PSI &lt; 0,001) —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 smtClean="0">
                <a:solidFill>
                  <a:srgbClr val="FFFFFF"/>
                </a:solidFill>
                <a:latin typeface="Arial"/>
              </a:rPr>
              <a:t>стабильна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Покрыты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требования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ТЗ: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pytest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Docker, CI/CD,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MLflow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мониторинг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(PSI, CPU/RAM</a:t>
            </a:r>
            <a:r>
              <a:rPr sz="2000" b="0" dirty="0" smtClean="0">
                <a:solidFill>
                  <a:srgbClr val="FFFFFF"/>
                </a:solidFill>
                <a:latin typeface="Arial"/>
              </a:rPr>
              <a:t>)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FFFFFF"/>
                </a:solidFill>
                <a:latin typeface="Arial"/>
              </a:rPr>
              <a:t>Дальнейшее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Arial"/>
              </a:rPr>
              <a:t>развитие</a:t>
            </a:r>
            <a:r>
              <a:rPr sz="2200" b="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Production-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флагов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отказов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(TWF/HDF/PWF/OSF)</a:t>
            </a: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REST API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для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интеграции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с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IoT-системами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· 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Алерты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превышении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порогов</a:t>
            </a:r>
            <a:r>
              <a:rPr sz="20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</a:rPr>
              <a:t>риска</a:t>
            </a: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endParaRPr sz="2000" b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GitHub: https://github.com/svscrip/auto_ML-prediction_machines_failures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074" y="2160000"/>
            <a:ext cx="1008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000" b="1" dirty="0" smtClean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4000" b="1" dirty="0" err="1" smtClean="0">
                <a:solidFill>
                  <a:srgbClr val="FFFFFF"/>
                </a:solidFill>
                <a:latin typeface="Arial"/>
              </a:rPr>
              <a:t>Спасибо</a:t>
            </a:r>
            <a:r>
              <a:rPr sz="40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за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внимание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!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48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Arial"/>
              </a:rPr>
              <a:t>GitHub: https://github.com/svscrip/auto_ML-prediction_machines_failures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963</Words>
  <Application>Microsoft Office PowerPoint</Application>
  <PresentationFormat>Широкоэкранный</PresentationFormat>
  <Paragraphs>166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Сергей</cp:lastModifiedBy>
  <cp:revision>2</cp:revision>
  <dcterms:created xsi:type="dcterms:W3CDTF">2013-01-27T09:14:16Z</dcterms:created>
  <dcterms:modified xsi:type="dcterms:W3CDTF">2026-05-30T16:26:42Z</dcterms:modified>
  <cp:category/>
</cp:coreProperties>
</file>